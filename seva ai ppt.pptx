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F0883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22A55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60120"/>
            <a:ext cx="566928" cy="566928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5" name="Image 0" descr="assets/mic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991" y="1028151"/>
            <a:ext cx="430865" cy="4308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6192" y="914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SEVA AI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Voice-First RTO Service Assistant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Licence • Vehicle Registration • Ownership Transfer — grounded in verified data, honest about what it doesn't know.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709160"/>
            <a:ext cx="1216152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709160"/>
            <a:ext cx="1216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40280" y="4709160"/>
            <a:ext cx="2560320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40280" y="470916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UI languages, 11+ voice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01768" y="4709160"/>
            <a:ext cx="1126541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01768" y="4709160"/>
            <a:ext cx="1126541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329477" y="4709160"/>
            <a:ext cx="2470709" cy="402336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29477" y="4709160"/>
            <a:ext cx="247070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 on gaps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Guardrails &amp; Evaluation Results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0883E">
              <a:alpha val="12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services are confusing. SEVA makes them speakable.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by voice or text, in your own language, about your driving licence or vehicle paperwork — and get an answer grounded in real data, never a guess.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45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2587752"/>
            <a:ext cx="512064" cy="512064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8" name="Image 0" descr="assets/glob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680" y="2649200"/>
            <a:ext cx="389169" cy="3891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24612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UI Languages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" y="3566160"/>
            <a:ext cx="3008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Telugu, Odia, English — voice pipeline supports 11+ Indian languages end to end.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70248" y="23317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45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6280" y="2587752"/>
            <a:ext cx="512064" cy="512064"/>
          </a:xfrm>
          <a:prstGeom prst="ellipse">
            <a:avLst/>
          </a:prstGeom>
          <a:solidFill>
            <a:srgbClr val="22A559"/>
          </a:solidFill>
          <a:ln/>
        </p:spPr>
      </p:sp>
      <p:pic>
        <p:nvPicPr>
          <p:cNvPr id="13" name="Image 1" descr="assets/mic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728" y="2649200"/>
            <a:ext cx="389169" cy="3891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324612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+ Text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26280" y="3566160"/>
            <a:ext cx="3008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or type. SEVA replies in the same language, by text and by voice.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83296" y="23317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A45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39328" y="2587752"/>
            <a:ext cx="512064" cy="512064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18" name="Image 2" descr="assets/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776" y="2649200"/>
            <a:ext cx="389169" cy="3891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39328" y="3246120"/>
            <a:ext cx="30083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Grounded, Honest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39328" y="3566160"/>
            <a:ext cx="30083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only from verified data — and says so plainly when verified data doesn't exist yet.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7200" y="4526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RTO services covered — one (Driving Licence) fully verified, two explicitly marked as data gaps rather than answered from guesswork.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Overview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SEVA 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0883E">
              <a:alpha val="12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layers, one guardrail thread running through all of them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017520" y="1572768"/>
            <a:ext cx="3063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18688" y="1824228"/>
            <a:ext cx="457200" cy="457200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7" name="Image 0" descr="asset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3552" y="187909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22192" y="170992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822192" y="207568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data/&lt;service_id&gt;/*.json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49140" y="2532888"/>
            <a:ext cx="0" cy="292608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017520" y="2825496"/>
            <a:ext cx="3063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5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18688" y="3076956"/>
            <a:ext cx="457200" cy="457200"/>
          </a:xfrm>
          <a:prstGeom prst="ellipse">
            <a:avLst/>
          </a:prstGeom>
          <a:solidFill>
            <a:srgbClr val="22A559"/>
          </a:solidFill>
          <a:ln/>
        </p:spPr>
      </p:sp>
      <p:pic>
        <p:nvPicPr>
          <p:cNvPr id="13" name="Image 1" descr="assets/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313182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22192" y="2962656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Layer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822192" y="3328416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retrieval/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49140" y="3785616"/>
            <a:ext cx="0" cy="292608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3017520" y="4078224"/>
            <a:ext cx="3063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5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18688" y="4329684"/>
            <a:ext cx="457200" cy="457200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19" name="Image 2" descr="assets/cpu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4384548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22192" y="421538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Layer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3822192" y="458114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intelligence.py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549140" y="5038344"/>
            <a:ext cx="0" cy="292608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3017520" y="5330952"/>
            <a:ext cx="3063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5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18688" y="5582412"/>
            <a:ext cx="457200" cy="457200"/>
          </a:xfrm>
          <a:prstGeom prst="ellipse">
            <a:avLst/>
          </a:prstGeom>
          <a:solidFill>
            <a:srgbClr val="22A559"/>
          </a:solidFill>
          <a:ln/>
        </p:spPr>
      </p:sp>
      <p:pic>
        <p:nvPicPr>
          <p:cNvPr id="25" name="Image 3" descr="assets/lay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5637276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822192" y="546811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Layer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3822192" y="583387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 + frontend/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583680" y="1527048"/>
            <a:ext cx="2514600" cy="4809744"/>
          </a:xfrm>
          <a:prstGeom prst="roundRect">
            <a:avLst>
              <a:gd name="adj" fmla="val 4364"/>
            </a:avLst>
          </a:prstGeom>
          <a:solidFill>
            <a:srgbClr val="1E2A45">
              <a:alpha val="6000"/>
            </a:srgbClr>
          </a:solidFill>
          <a:ln w="15875">
            <a:solidFill>
              <a:srgbClr val="1E2A45"/>
            </a:solidFill>
            <a:prstDash val="dash"/>
          </a:ln>
        </p:spPr>
      </p:sp>
      <p:sp>
        <p:nvSpPr>
          <p:cNvPr id="29" name="Shape 23"/>
          <p:cNvSpPr/>
          <p:nvPr/>
        </p:nvSpPr>
        <p:spPr>
          <a:xfrm>
            <a:off x="6803136" y="1737360"/>
            <a:ext cx="457200" cy="457200"/>
          </a:xfrm>
          <a:prstGeom prst="ellipse">
            <a:avLst/>
          </a:prstGeom>
          <a:solidFill>
            <a:srgbClr val="1E2A45"/>
          </a:solidFill>
          <a:ln/>
        </p:spPr>
      </p:sp>
      <p:pic>
        <p:nvPicPr>
          <p:cNvPr id="30" name="Image 4" descr="assets/shiel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792224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784848" y="22860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Responsible-AI Layer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6766560" y="2807208"/>
            <a:ext cx="2194560" cy="3438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module — a set of properties enforced jointly by data, RAG, and intelligence layers below.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Architecture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SEVA 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0883E">
              <a:alpha val="12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DATA LAYER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services, honestly scoped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data/&lt;service_id&gt;/*.json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5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76656" y="2048256"/>
            <a:ext cx="420624" cy="420624"/>
          </a:xfrm>
          <a:prstGeom prst="ellipse">
            <a:avLst/>
          </a:prstGeom>
          <a:solidFill>
            <a:srgbClr val="22A559"/>
          </a:solidFill>
          <a:ln/>
        </p:spPr>
      </p:sp>
      <p:pic>
        <p:nvPicPr>
          <p:cNvPr id="8" name="Image 0" descr="asset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131" y="2098731"/>
            <a:ext cx="319674" cy="3196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Driving Licence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76656" y="2615184"/>
            <a:ext cx="3081528" cy="310896"/>
          </a:xfrm>
          <a:prstGeom prst="roundRect">
            <a:avLst>
              <a:gd name="adj" fmla="val 50000"/>
            </a:avLst>
          </a:prstGeom>
          <a:solidFill>
            <a:srgbClr val="22A559">
              <a:alpha val="1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76656" y="2615184"/>
            <a:ext cx="3081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dataset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76656" y="3035808"/>
            <a:ext cx="3081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prereqs, steps, docs, form fields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70248" y="1828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5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89704" y="2048256"/>
            <a:ext cx="420624" cy="420624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15" name="Image 1" descr="asset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179" y="2098731"/>
            <a:ext cx="319674" cy="31967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47488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Registration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4489704" y="2615184"/>
            <a:ext cx="3081528" cy="310896"/>
          </a:xfrm>
          <a:prstGeom prst="roundRect">
            <a:avLst>
              <a:gd name="adj" fmla="val 50000"/>
            </a:avLst>
          </a:prstGeom>
          <a:solidFill>
            <a:srgbClr val="F0883E">
              <a:alpha val="12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4489704" y="2615184"/>
            <a:ext cx="3081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data gap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489704" y="3035808"/>
            <a:ext cx="3081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"status": "no_verified_data"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083296" y="18288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5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02752" y="2048256"/>
            <a:ext cx="420624" cy="420624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22" name="Image 2" descr="assets/ale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227" y="2098731"/>
            <a:ext cx="319674" cy="31967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860536" y="2011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Transfer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8302752" y="2615184"/>
            <a:ext cx="3081528" cy="310896"/>
          </a:xfrm>
          <a:prstGeom prst="roundRect">
            <a:avLst>
              <a:gd name="adj" fmla="val 50000"/>
            </a:avLst>
          </a:prstGeom>
          <a:solidFill>
            <a:srgbClr val="F0883E">
              <a:alpha val="1200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8302752" y="2615184"/>
            <a:ext cx="3081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data gap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8302752" y="3035808"/>
            <a:ext cx="3081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"status": "no_verified_data"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57200" y="3886200"/>
            <a:ext cx="41148" cy="91440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28" name="Text 23"/>
          <p:cNvSpPr/>
          <p:nvPr/>
        </p:nvSpPr>
        <p:spPr>
          <a:xfrm>
            <a:off x="640080" y="38587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pattern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640080" y="414223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services are marked explicitly in the dataset itself — the single source of truth the RAG layer reads to decide what's safe to use as evidence.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270248" y="3886200"/>
            <a:ext cx="41148" cy="91440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31" name="Text 26"/>
          <p:cNvSpPr/>
          <p:nvPr/>
        </p:nvSpPr>
        <p:spPr>
          <a:xfrm>
            <a:off x="4453128" y="38587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swap point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4453128" y="414223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dataset_loader.load_dataset(service_id) is the one function touching raw files — frozen signature, so a real backend can replace it with zero downstream changes.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8083296" y="3886200"/>
            <a:ext cx="41148" cy="91440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34" name="Text 29"/>
          <p:cNvSpPr/>
          <p:nvPr/>
        </p:nvSpPr>
        <p:spPr>
          <a:xfrm>
            <a:off x="8266176" y="38587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≠ process data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8266176" y="414223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can lack verified steps but still carry a real official government URL — keeping every gap response actionable, not a dead end.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457200" y="5074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faq.json — cross-service FAQ tagged service_id: "general"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Data Layer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SEVA 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2A559">
              <a:alpha val="12000"/>
            </a:srgbClr>
          </a:solidFill>
          <a:ln w="12700">
            <a:solidFill>
              <a:srgbClr val="22A5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RAG LAYER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Metadata-tagged chunks, not one giant blob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 — chunking.py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810512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service_id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57400" y="181051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3 services (or “general”)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46888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57400" y="246888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· documents · procedure · forms · faq · official_link · gap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12724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57400" y="312724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for gap-service placeholders — never usable as evidence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457200" y="3785616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785616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57400" y="378561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provenance, surfaced back as a citation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457200" y="451713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 field becomes its own chunk — fine enough granularity to answer “what do I enter in the LL number field” without dumping a whole step.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— index.py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1810512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25400" dir="5400000">
              <a:srgbClr val="1E2A45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2011680"/>
            <a:ext cx="438912" cy="438912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22" name="Image 0" descr="assets/lis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6349" y="2064349"/>
            <a:ext cx="333573" cy="333573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178040" y="19476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BM25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178040" y="2267712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keyword / term-frequency search (rank_bm25). Catches exact matches — “Form 20”, “RC transfer.”</a:t>
            </a:r>
            <a:endParaRPr lang="en-US" sz="970" dirty="0"/>
          </a:p>
        </p:txBody>
      </p:sp>
      <p:sp>
        <p:nvSpPr>
          <p:cNvPr id="25" name="Shape 22"/>
          <p:cNvSpPr/>
          <p:nvPr/>
        </p:nvSpPr>
        <p:spPr>
          <a:xfrm>
            <a:off x="6355080" y="3273552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25400" dir="5400000">
              <a:srgbClr val="1E2A45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83680" y="3474720"/>
            <a:ext cx="438912" cy="438912"/>
          </a:xfrm>
          <a:prstGeom prst="ellipse">
            <a:avLst/>
          </a:prstGeom>
          <a:solidFill>
            <a:srgbClr val="22A559"/>
          </a:solidFill>
          <a:ln/>
        </p:spPr>
      </p:sp>
      <p:pic>
        <p:nvPicPr>
          <p:cNvPr id="27" name="Image 1" descr="assets/bran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349" y="3527389"/>
            <a:ext cx="333573" cy="333573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178040" y="34107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→ LSA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7178040" y="3730752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SVD groups co-occurring terms into latent topics — catches paraphrases a keyword match misses. Chosen to avoid a model-hub dependency; scikit-learn was already in the stack.</a:t>
            </a:r>
            <a:endParaRPr lang="en-US" sz="970" dirty="0"/>
          </a:p>
        </p:txBody>
      </p:sp>
      <p:sp>
        <p:nvSpPr>
          <p:cNvPr id="30" name="Text 26"/>
          <p:cNvSpPr/>
          <p:nvPr/>
        </p:nvSpPr>
        <p:spPr>
          <a:xfrm>
            <a:off x="6355080" y="4782312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indices are built once at process start and cached in memory — the corpus is small and static.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RAG Layer · Chunking &amp; Indexing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SEVA 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2A559">
              <a:alpha val="12000"/>
            </a:srgbClr>
          </a:solidFill>
          <a:ln w="12700">
            <a:solidFill>
              <a:srgbClr val="22A5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RAG LAYER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retrieval pipeline, step by step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25400" dir="5400000">
              <a:srgbClr val="1E2A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755648"/>
            <a:ext cx="384048" cy="38404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755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70432" y="177393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Router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" y="2267712"/>
            <a:ext cx="30815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Keyword-stem classifier — no LLM call. Cheap, near-free, runs every turn.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77640" y="2331720"/>
            <a:ext cx="292608" cy="0"/>
          </a:xfrm>
          <a:prstGeom prst="line">
            <a:avLst/>
          </a:prstGeom>
          <a:noFill/>
          <a:ln w="1905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70248" y="1554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25400" dir="5400000">
              <a:srgbClr val="1E2A45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71416" y="1755648"/>
            <a:ext cx="384048" cy="38404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3" name="Text 11"/>
          <p:cNvSpPr/>
          <p:nvPr/>
        </p:nvSpPr>
        <p:spPr>
          <a:xfrm>
            <a:off x="4471416" y="1755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83480" y="177393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Short-Circuit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9704" y="2267712"/>
            <a:ext cx="30815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service → insufficient_evidence immediately. Nothing scored.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90688" y="2331720"/>
            <a:ext cx="292608" cy="0"/>
          </a:xfrm>
          <a:prstGeom prst="line">
            <a:avLst/>
          </a:prstGeom>
          <a:noFill/>
          <a:ln w="1905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83296" y="155448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25400" dir="5400000">
              <a:srgbClr val="1E2A45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84464" y="1755648"/>
            <a:ext cx="384048" cy="384048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9" name="Text 17"/>
          <p:cNvSpPr/>
          <p:nvPr/>
        </p:nvSpPr>
        <p:spPr>
          <a:xfrm>
            <a:off x="8284464" y="1755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96528" y="1773936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Retrieval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02752" y="2267712"/>
            <a:ext cx="30815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∥ TF-IDF/LSA run independently over service-filtered candidates.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64992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25400" dir="5400000">
              <a:srgbClr val="1E2A4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" y="3566160"/>
            <a:ext cx="384048" cy="384048"/>
          </a:xfrm>
          <a:prstGeom prst="ellipse">
            <a:avLst/>
          </a:prstGeom>
          <a:solidFill>
            <a:srgbClr val="22A559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66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70432" y="35844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RRF Fusion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" y="4078224"/>
            <a:ext cx="30815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lists merged by rank position — scores aren't on comparable scales.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77640" y="4142232"/>
            <a:ext cx="292608" cy="0"/>
          </a:xfrm>
          <a:prstGeom prst="line">
            <a:avLst/>
          </a:prstGeom>
          <a:noFill/>
          <a:ln w="1905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70248" y="3364992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25400" dir="5400000">
              <a:srgbClr val="1E2A45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471416" y="3566160"/>
            <a:ext cx="384048" cy="384048"/>
          </a:xfrm>
          <a:prstGeom prst="ellipse">
            <a:avLst/>
          </a:prstGeom>
          <a:solidFill>
            <a:srgbClr val="22A559"/>
          </a:solidFill>
          <a:ln/>
        </p:spPr>
      </p:sp>
      <p:sp>
        <p:nvSpPr>
          <p:cNvPr id="30" name="Text 28"/>
          <p:cNvSpPr/>
          <p:nvPr/>
        </p:nvSpPr>
        <p:spPr>
          <a:xfrm>
            <a:off x="4471416" y="3566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983480" y="35844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Lexical Rerank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89704" y="4078224"/>
            <a:ext cx="30815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Exact-phrase bonus, overlap scoring; permanently deprioritizes unverified chunks.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90688" y="4142232"/>
            <a:ext cx="292608" cy="0"/>
          </a:xfrm>
          <a:prstGeom prst="line">
            <a:avLst/>
          </a:prstGeom>
          <a:noFill/>
          <a:ln w="1905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083296" y="3364992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sx="100000" sy="100000" kx="0" ky="0" algn="bl" rotWithShape="0" blurRad="63500" dist="25400" dir="5400000">
              <a:srgbClr val="1E2A45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84464" y="3566160"/>
            <a:ext cx="384048" cy="384048"/>
          </a:xfrm>
          <a:prstGeom prst="ellipse">
            <a:avLst/>
          </a:prstGeom>
          <a:solidFill>
            <a:srgbClr val="22A559"/>
          </a:solidFill>
          <a:ln/>
        </p:spPr>
      </p:sp>
      <p:sp>
        <p:nvSpPr>
          <p:cNvPr id="36" name="Text 34"/>
          <p:cNvSpPr/>
          <p:nvPr/>
        </p:nvSpPr>
        <p:spPr>
          <a:xfrm>
            <a:off x="8284464" y="3566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796528" y="35844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Gate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02752" y="4078224"/>
            <a:ext cx="30815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BM25+cosine score vs. floor — below it, flagged insufficient_evidence.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RAG Layer · Retrieval Pipeline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SEVA 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0883E">
              <a:alpha val="12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PROPERTY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never gets a chance to guess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two unverified services, retrieval short-circuits and returns “insufficient evidence” before anything is even scored.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RAG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24304A"/>
          </a:solidFill>
          <a:ln w="12700">
            <a:solidFill>
              <a:srgbClr val="3A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3063240"/>
            <a:ext cx="0" cy="137160"/>
          </a:xfrm>
          <a:prstGeom prst="line">
            <a:avLst/>
          </a:prstGeom>
          <a:noFill/>
          <a:ln w="19050">
            <a:solidFill>
              <a:srgbClr val="5A64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320040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24304A"/>
          </a:solidFill>
          <a:ln w="12700">
            <a:solidFill>
              <a:srgbClr val="3A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0040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(weak match)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3749040"/>
            <a:ext cx="0" cy="137160"/>
          </a:xfrm>
          <a:prstGeom prst="line">
            <a:avLst/>
          </a:prstGeom>
          <a:noFill/>
          <a:ln w="19050">
            <a:solidFill>
              <a:srgbClr val="5A64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88620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24304A"/>
          </a:solidFill>
          <a:ln w="12700">
            <a:solidFill>
              <a:srgbClr val="3A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8620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anyway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4434840"/>
            <a:ext cx="0" cy="137160"/>
          </a:xfrm>
          <a:prstGeom prst="line">
            <a:avLst/>
          </a:prstGeom>
          <a:noFill/>
          <a:ln w="19050">
            <a:solidFill>
              <a:srgbClr val="5A64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4572000"/>
            <a:ext cx="5120640" cy="566928"/>
          </a:xfrm>
          <a:prstGeom prst="roundRect">
            <a:avLst>
              <a:gd name="adj" fmla="val 12903"/>
            </a:avLst>
          </a:prstGeom>
          <a:solidFill>
            <a:srgbClr val="5A2A2A"/>
          </a:solidFill>
          <a:ln w="12700">
            <a:solidFill>
              <a:srgbClr val="E068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7200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plausible-sounding guess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1488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SEVA AI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51460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24304A"/>
          </a:solidFill>
          <a:ln w="12700">
            <a:solidFill>
              <a:srgbClr val="3A4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51460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service router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06840" y="3063240"/>
            <a:ext cx="0" cy="137160"/>
          </a:xfrm>
          <a:prstGeom prst="line">
            <a:avLst/>
          </a:prstGeom>
          <a:noFill/>
          <a:ln w="19050">
            <a:solidFill>
              <a:srgbClr val="5A64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09360" y="320040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24304A"/>
          </a:solidFill>
          <a:ln w="12700">
            <a:solidFill>
              <a:srgbClr val="3A4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20040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detected in data layer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06840" y="3749040"/>
            <a:ext cx="0" cy="137160"/>
          </a:xfrm>
          <a:prstGeom prst="line">
            <a:avLst/>
          </a:prstGeom>
          <a:noFill/>
          <a:ln w="19050">
            <a:solidFill>
              <a:srgbClr val="5A64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309360" y="388620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24304A"/>
          </a:solidFill>
          <a:ln w="12700">
            <a:solidFill>
              <a:srgbClr val="3A4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88620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short-circuits (score = skip)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06840" y="4434840"/>
            <a:ext cx="0" cy="137160"/>
          </a:xfrm>
          <a:prstGeom prst="line">
            <a:avLst/>
          </a:prstGeom>
          <a:noFill/>
          <a:ln w="19050">
            <a:solidFill>
              <a:srgbClr val="5A64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309360" y="457200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1D4A34"/>
          </a:solidFill>
          <a:ln w="12700">
            <a:solidFill>
              <a:srgbClr val="22A5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57200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F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honest fallback + real portal link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is never a dead end — the fallback message still attaches the real, verified official Parivahan / Vahan portal link.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Guardrails · No Hallucination on Gaps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SEVA 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0883E">
              <a:alpha val="12000"/>
            </a:srgbClr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INTELLIGENCE LAYER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 prompt beats a hand-coded state machine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intelligence.py — single entry point: respond(history, user_message, service_id)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call does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167128"/>
            <a:ext cx="274320" cy="274320"/>
          </a:xfrm>
          <a:prstGeom prst="ellipse">
            <a:avLst/>
          </a:prstGeom>
          <a:solidFill>
            <a:srgbClr val="22A55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671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grounding context via retrieval.retrieve()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57200" y="2734056"/>
            <a:ext cx="274320" cy="27432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340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267004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insufficient_evidence — return fixed fallback, skip the LLM entirely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457200" y="3300984"/>
            <a:ext cx="274320" cy="274320"/>
          </a:xfrm>
          <a:prstGeom prst="ellipse">
            <a:avLst/>
          </a:prstGeom>
          <a:solidFill>
            <a:srgbClr val="22A55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009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323697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build one message list: system prompt + history + this turn (reference material + process outline + links)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57200" y="3867912"/>
            <a:ext cx="274320" cy="274320"/>
          </a:xfrm>
          <a:prstGeom prst="ellipse">
            <a:avLst/>
          </a:prstGeom>
          <a:solidFill>
            <a:srgbClr val="22A55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67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380390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to Sarvam chat completions (sarvam-105b)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274320" cy="274320"/>
          </a:xfrm>
          <a:prstGeom prst="ellipse">
            <a:avLst/>
          </a:prstGeom>
          <a:solidFill>
            <a:srgbClr val="22A55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437083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both sides to history in place — that mutation is the conversation state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6355080" y="17830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a state machine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355080" y="21488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DEEDF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2677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6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iterations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25603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stage / prereq_index tracking, a check_scope() keyword matcher, an interpret_answer() classifier. Broke on real conversation — “3-wheeler” had nowhere to go; “register my car” got funneled into the DL flow.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55080" y="37033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8F7EE"/>
          </a:solidFill>
          <a:ln w="12700">
            <a:solidFill>
              <a:srgbClr val="22A5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8221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4114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C5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conversation history + one well-specified prompt lets the model actually understand edge cases, instead of every case needing a new if-branch.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56692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encodes: ground-only-in-context · always end with a next step · ask DL prereqs one at a time · 5-part field guidance · exact fixed refusal for out-of-scope questions.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Intelligence Layer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SEVA 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2A559">
              <a:alpha val="12000"/>
            </a:srgbClr>
          </a:solidFill>
          <a:ln w="12700">
            <a:solidFill>
              <a:srgbClr val="22A5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APPLICATION LAYER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thin backend, a fully localized frontend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— FastAPI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85623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/api/chat/text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2112264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detect/translate → respond() → translate + synth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532888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6060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/api/chat/voice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8620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→ STT → same pipeline as text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282696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35584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/api/official-links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" y="36118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no-LLM lookup per service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032504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105656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/api/checklist/{service_id}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436168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doc list — same source of truth as RAG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7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call (translate/TTS/STT) degrades independently — one failing never blocks the rest of the reply.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6309360" y="14173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— React + Tailwind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178308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1892808"/>
            <a:ext cx="438912" cy="438912"/>
          </a:xfrm>
          <a:prstGeom prst="ellipse">
            <a:avLst/>
          </a:prstGeom>
          <a:solidFill>
            <a:srgbClr val="22A559"/>
          </a:solidFill>
          <a:ln/>
        </p:spPr>
      </p:sp>
      <p:pic>
        <p:nvPicPr>
          <p:cNvPr id="22" name="Image 0" descr="assets/lis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9189" y="1945477"/>
            <a:ext cx="333573" cy="333573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995160" y="18379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Checklist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995160" y="2093976"/>
            <a:ext cx="4617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doc list, persisted checkboxes in localStorage.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6309360" y="2532888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46520" y="2642616"/>
            <a:ext cx="438912" cy="438912"/>
          </a:xfrm>
          <a:prstGeom prst="ellipse">
            <a:avLst/>
          </a:prstGeom>
          <a:solidFill>
            <a:srgbClr val="22A559"/>
          </a:solidFill>
          <a:ln/>
        </p:spPr>
      </p:sp>
      <p:pic>
        <p:nvPicPr>
          <p:cNvPr id="27" name="Image 1" descr="assets/targe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189" y="2695285"/>
            <a:ext cx="333573" cy="333573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995160" y="25877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“Am I Ready?”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6995160" y="2843784"/>
            <a:ext cx="4617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check, multi-class fee estimator, geolocation RTO finder — all non-LLM.</a:t>
            </a:r>
            <a:endParaRPr lang="en-US" sz="920" dirty="0"/>
          </a:p>
        </p:txBody>
      </p:sp>
      <p:sp>
        <p:nvSpPr>
          <p:cNvPr id="30" name="Shape 26"/>
          <p:cNvSpPr/>
          <p:nvPr/>
        </p:nvSpPr>
        <p:spPr>
          <a:xfrm>
            <a:off x="6309360" y="3282696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446520" y="3392424"/>
            <a:ext cx="438912" cy="438912"/>
          </a:xfrm>
          <a:prstGeom prst="ellipse">
            <a:avLst/>
          </a:prstGeom>
          <a:solidFill>
            <a:srgbClr val="22A559"/>
          </a:solidFill>
          <a:ln/>
        </p:spPr>
      </p:sp>
      <p:pic>
        <p:nvPicPr>
          <p:cNvPr id="32" name="Image 2" descr="assets/glob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189" y="3445093"/>
            <a:ext cx="333573" cy="333573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995160" y="33375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i18n, two paths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6995160" y="3593592"/>
            <a:ext cx="4617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replies translated live by Sarvam; UI chrome is a static hand-authored dictionary.</a:t>
            </a:r>
            <a:endParaRPr lang="en-US" sz="920" dirty="0"/>
          </a:p>
        </p:txBody>
      </p:sp>
      <p:sp>
        <p:nvSpPr>
          <p:cNvPr id="35" name="Shape 30"/>
          <p:cNvSpPr/>
          <p:nvPr/>
        </p:nvSpPr>
        <p:spPr>
          <a:xfrm>
            <a:off x="6309360" y="4032504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446520" y="4142232"/>
            <a:ext cx="438912" cy="438912"/>
          </a:xfrm>
          <a:prstGeom prst="ellipse">
            <a:avLst/>
          </a:prstGeom>
          <a:solidFill>
            <a:srgbClr val="22A559"/>
          </a:solidFill>
          <a:ln/>
        </p:spPr>
      </p:sp>
      <p:pic>
        <p:nvPicPr>
          <p:cNvPr id="37" name="Image 3" descr="assets/us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189" y="4194901"/>
            <a:ext cx="333573" cy="333573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995160" y="40873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6995160" y="4343400"/>
            <a:ext cx="4617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language switch, text-size toggle, full data reset.</a:t>
            </a:r>
            <a:endParaRPr lang="en-US" sz="920" dirty="0"/>
          </a:p>
        </p:txBody>
      </p:sp>
      <p:sp>
        <p:nvSpPr>
          <p:cNvPr id="40" name="Text 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Application Layer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SEVA 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2A559">
              <a:alpha val="12000"/>
            </a:srgbClr>
          </a:solidFill>
          <a:ln w="12700">
            <a:solidFill>
              <a:srgbClr val="22A5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enforced by design, not by promise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E2A45"/>
          </a:solidFill>
          <a:ln w="12700">
            <a:solidFill>
              <a:srgbClr val="3A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709928"/>
            <a:ext cx="420624" cy="420624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7" name="Image 0" descr="asset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131" y="1760403"/>
            <a:ext cx="319674" cy="3196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" y="222199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hallucination on gaps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76656" y="2569464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B7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services filtered out before scoring — the LLM never sees a chance to guess.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4270248" y="150876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E2A45"/>
          </a:solidFill>
          <a:ln w="12700">
            <a:solidFill>
              <a:srgbClr val="3A456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9704" y="1709928"/>
            <a:ext cx="420624" cy="420624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12" name="Image 1" descr="assets/targe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179" y="1760403"/>
            <a:ext cx="319674" cy="3196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9704" y="222199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by instruction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489704" y="2569464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B7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exact refusal sentence, checked verbatim in code — not brittle keyword deny-lists.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8083296" y="150876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E2A45"/>
          </a:solidFill>
          <a:ln w="12700">
            <a:solidFill>
              <a:srgbClr val="3A456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02752" y="1709928"/>
            <a:ext cx="420624" cy="420624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17" name="Image 2" descr="assets/lin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227" y="1760403"/>
            <a:ext cx="319674" cy="3196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2221992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Citations end-to-end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302752" y="2569464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B7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[source_file] chunk text tracked from retrieval through the API to the UI's Sources expander.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457200" y="3364992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E2A45"/>
          </a:solidFill>
          <a:ln w="12700">
            <a:solidFill>
              <a:srgbClr val="3A456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76656" y="3566160"/>
            <a:ext cx="420624" cy="420624"/>
          </a:xfrm>
          <a:prstGeom prst="ellipse">
            <a:avLst/>
          </a:prstGeom>
          <a:solidFill>
            <a:srgbClr val="22A559"/>
          </a:solidFill>
          <a:ln/>
        </p:spPr>
      </p:sp>
      <p:pic>
        <p:nvPicPr>
          <p:cNvPr id="22" name="Image 3" descr="asset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131" y="3616635"/>
            <a:ext cx="319674" cy="31967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6656" y="4078224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by design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76656" y="4425696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B7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can't see the screen; links open with noopener,noreferrer; nothing auto-filled or submitted.</a:t>
            </a:r>
            <a:endParaRPr lang="en-US" sz="930" dirty="0"/>
          </a:p>
        </p:txBody>
      </p:sp>
      <p:sp>
        <p:nvSpPr>
          <p:cNvPr id="25" name="Shape 19"/>
          <p:cNvSpPr/>
          <p:nvPr/>
        </p:nvSpPr>
        <p:spPr>
          <a:xfrm>
            <a:off x="4270248" y="3364992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E2A45"/>
          </a:solidFill>
          <a:ln w="12700">
            <a:solidFill>
              <a:srgbClr val="3A456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489704" y="3566160"/>
            <a:ext cx="420624" cy="420624"/>
          </a:xfrm>
          <a:prstGeom prst="ellipse">
            <a:avLst/>
          </a:prstGeom>
          <a:solidFill>
            <a:srgbClr val="22A559"/>
          </a:solidFill>
          <a:ln/>
        </p:spPr>
      </p:sp>
      <p:pic>
        <p:nvPicPr>
          <p:cNvPr id="27" name="Image 4" descr="assets/aler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0179" y="3616635"/>
            <a:ext cx="319674" cy="31967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89704" y="4078224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Disclaimers where due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489704" y="4425696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B7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Non-verified general knowledge flagged as such; calculators carry “confirm with your local RTO.”</a:t>
            </a:r>
            <a:endParaRPr lang="en-US" sz="930" dirty="0"/>
          </a:p>
        </p:txBody>
      </p:sp>
      <p:sp>
        <p:nvSpPr>
          <p:cNvPr id="30" name="Shape 23"/>
          <p:cNvSpPr/>
          <p:nvPr/>
        </p:nvSpPr>
        <p:spPr>
          <a:xfrm>
            <a:off x="8083296" y="3364992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E2A45"/>
          </a:solidFill>
          <a:ln w="12700">
            <a:solidFill>
              <a:srgbClr val="3A456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02752" y="3566160"/>
            <a:ext cx="420624" cy="420624"/>
          </a:xfrm>
          <a:prstGeom prst="ellipse">
            <a:avLst/>
          </a:prstGeom>
          <a:solidFill>
            <a:srgbClr val="22A559"/>
          </a:solidFill>
          <a:ln/>
        </p:spPr>
      </p:sp>
      <p:pic>
        <p:nvPicPr>
          <p:cNvPr id="32" name="Image 5" descr="assets/activity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3227" y="3616635"/>
            <a:ext cx="319674" cy="31967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02752" y="4078224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degradation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302752" y="4425696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B7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Translation/TTS/STT failures narrow the response — never a 500 or a silent crash.</a:t>
            </a:r>
            <a:endParaRPr lang="en-US" sz="930" dirty="0"/>
          </a:p>
        </p:txBody>
      </p:sp>
      <p:sp>
        <p:nvSpPr>
          <p:cNvPr id="35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Responsible AI Guardrails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SEVA AI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22A559">
              <a:alpha val="12000"/>
            </a:srgbClr>
          </a:solidFill>
          <a:ln w="12700">
            <a:solidFill>
              <a:srgbClr val="22A5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2A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 the eval harness — every metric checks out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eval/run_eval.py — retrieval-only mode always runs; full-pipeline mode makes live Sarvam calls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22A559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5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0391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A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Routing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22A559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5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20391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A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29000" y="26517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Handling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8745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22A559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5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20391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A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63640" y="26517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Hit Rate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0" y="187452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22A559"/>
            </a:solidFill>
            <a:prstDash val="solid"/>
          </a:ln>
          <a:effectLst>
            <a:outerShdw sx="100000" sy="100000" kx="0" ky="0" algn="bl" rotWithShape="0" blurRad="76200" dist="25400" dir="5400000">
              <a:srgbClr val="1E2A45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98280" y="203911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A5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098280" y="26517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98280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(live LLM)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latency vs. LLM latency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2E6EC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023360"/>
            <a:ext cx="641909" cy="502920"/>
          </a:xfrm>
          <a:prstGeom prst="roundRect">
            <a:avLst>
              <a:gd name="adj" fmla="val 14545"/>
            </a:avLst>
          </a:prstGeom>
          <a:solidFill>
            <a:srgbClr val="F0883E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9109" y="4023360"/>
            <a:ext cx="10056571" cy="502920"/>
          </a:xfrm>
          <a:prstGeom prst="roundRect">
            <a:avLst>
              <a:gd name="adj" fmla="val 14545"/>
            </a:avLst>
          </a:prstGeom>
          <a:solidFill>
            <a:srgbClr val="22A55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5902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6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~1ms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38160" y="45902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C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 ~1.8s (dominates total)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521208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harness does NOT claim: it doesn't prove answer correctness (needs human/LLM-judge review). What it verifies automatically: routing is right, retrieval surfaces real evidence, gaps are reported honestly, and latency stays low.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Evaluation Results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SEVA AI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2A55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F0883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80160"/>
            <a:ext cx="548640" cy="548640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5" name="Image 0" descr="assets/mic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7" y="134599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17904" y="123444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SEVA AI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where it can be. Honest where it can't.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retrieval, an explicit gap pattern, and a single well-specified system prompt — built to fail safe, not to sound confident.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97383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160520"/>
            <a:ext cx="9738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979676" y="416052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79676" y="4160520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18204" y="4160520"/>
            <a:ext cx="114757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18204" y="4160520"/>
            <a:ext cx="11475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248656" y="4160520"/>
            <a:ext cx="184251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48656" y="4160520"/>
            <a:ext cx="18425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TF-IDF/LSA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274052" y="4160520"/>
            <a:ext cx="626364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74052" y="4160520"/>
            <a:ext cx="6263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22960" y="5760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2026-08-09T03:19:08Z</dcterms:created>
  <dcterms:modified xsi:type="dcterms:W3CDTF">2026-08-09T03:19:08Z</dcterms:modified>
</cp:coreProperties>
</file>